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43891200" cy="329184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9384" userDrawn="1">
          <p15:clr>
            <a:srgbClr val="A4A3A4"/>
          </p15:clr>
        </p15:guide>
        <p15:guide id="5" pos="18384" userDrawn="1">
          <p15:clr>
            <a:srgbClr val="A4A3A4"/>
          </p15:clr>
        </p15:guide>
        <p15:guide id="6" orient="horz" pos="103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9" autoAdjust="0"/>
  </p:normalViewPr>
  <p:slideViewPr>
    <p:cSldViewPr snapToGrid="0">
      <p:cViewPr varScale="1">
        <p:scale>
          <a:sx n="17" d="100"/>
          <a:sy n="17" d="100"/>
        </p:scale>
        <p:origin x="1550" y="110"/>
      </p:cViewPr>
      <p:guideLst>
        <p:guide pos="9384"/>
        <p:guide pos="18384"/>
        <p:guide orient="horz" pos="103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E84F79-8E63-4149-AF59-9472729BF757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D05ED2-7671-4482-8E37-4CE9A8FA9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10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B0C03-F1F2-4DF2-B319-39F147A3270D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05A2B-5859-4045-9A96-B259A8098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23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B0C03-F1F2-4DF2-B319-39F147A3270D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05A2B-5859-4045-9A96-B259A8098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582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/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B0C03-F1F2-4DF2-B319-39F147A3270D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05A2B-5859-4045-9A96-B259A8098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872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B0C03-F1F2-4DF2-B319-39F147A3270D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05A2B-5859-4045-9A96-B259A8098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018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B0C03-F1F2-4DF2-B319-39F147A3270D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05A2B-5859-4045-9A96-B259A8098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959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B0C03-F1F2-4DF2-B319-39F147A3270D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05A2B-5859-4045-9A96-B259A8098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147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B0C03-F1F2-4DF2-B319-39F147A3270D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05A2B-5859-4045-9A96-B259A8098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60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B0C03-F1F2-4DF2-B319-39F147A3270D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05A2B-5859-4045-9A96-B259A8098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117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B0C03-F1F2-4DF2-B319-39F147A3270D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05A2B-5859-4045-9A96-B259A8098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54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B0C03-F1F2-4DF2-B319-39F147A3270D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05A2B-5859-4045-9A96-B259A8098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7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B0C03-F1F2-4DF2-B319-39F147A3270D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05A2B-5859-4045-9A96-B259A8098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602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FB0C03-F1F2-4DF2-B319-39F147A3270D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C05A2B-5859-4045-9A96-B259A8098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872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E54A50D-CB52-A1F4-B08A-B909ECEB1BD5}"/>
              </a:ext>
            </a:extLst>
          </p:cNvPr>
          <p:cNvSpPr txBox="1"/>
          <p:nvPr/>
        </p:nvSpPr>
        <p:spPr>
          <a:xfrm>
            <a:off x="5181601" y="408447"/>
            <a:ext cx="38098760" cy="2954655"/>
          </a:xfrm>
          <a:prstGeom prst="rect">
            <a:avLst/>
          </a:prstGeom>
          <a:solidFill>
            <a:schemeClr val="accent1">
              <a:lumMod val="75000"/>
              <a:alpha val="78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50800" dist="38100" algn="l" rotWithShape="0">
              <a:prstClr val="black">
                <a:alpha val="40000"/>
              </a:prstClr>
            </a:outerShdw>
            <a:softEdge rad="1524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61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Project Title: AI-Powered Career and Skill-Gap Recommendation System Using Canadian Job Bank Data, O*NET Occupational Information, and CIP Educational Pathways</a:t>
            </a:r>
            <a:endParaRPr lang="en-US" sz="61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A4BB22-24BC-FFF1-674D-86D58BB1F67A}"/>
              </a:ext>
            </a:extLst>
          </p:cNvPr>
          <p:cNvSpPr txBox="1"/>
          <p:nvPr/>
        </p:nvSpPr>
        <p:spPr>
          <a:xfrm>
            <a:off x="733741" y="3510809"/>
            <a:ext cx="106070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Course:</a:t>
            </a:r>
            <a:r>
              <a:rPr lang="en-US" sz="2800" dirty="0"/>
              <a:t> </a:t>
            </a:r>
            <a:r>
              <a:rPr lang="en-US" sz="2800" b="1" dirty="0"/>
              <a:t>Capstone Project (DAMO-699-1)</a:t>
            </a:r>
            <a:endParaRPr lang="en-US" sz="2800" dirty="0"/>
          </a:p>
          <a:p>
            <a:r>
              <a:rPr lang="en-US" sz="2800" b="1" dirty="0"/>
              <a:t>Program:</a:t>
            </a:r>
            <a:r>
              <a:rPr lang="en-US" sz="2800" dirty="0"/>
              <a:t> Master of Data Analytics, University of Niagara Falls Canada</a:t>
            </a:r>
          </a:p>
          <a:p>
            <a:r>
              <a:rPr lang="en-US" sz="2800" b="1" dirty="0"/>
              <a:t>Instructor:</a:t>
            </a:r>
            <a:r>
              <a:rPr lang="en-US" sz="2800" dirty="0"/>
              <a:t> Mehdi Mostofi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7234B9-1E10-1D94-5DBD-272F00E96697}"/>
              </a:ext>
            </a:extLst>
          </p:cNvPr>
          <p:cNvSpPr/>
          <p:nvPr/>
        </p:nvSpPr>
        <p:spPr>
          <a:xfrm>
            <a:off x="586154" y="11114453"/>
            <a:ext cx="14043388" cy="957317"/>
          </a:xfrm>
          <a:prstGeom prst="rect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Background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89643F-2755-011C-7562-5C65521C30F7}"/>
              </a:ext>
            </a:extLst>
          </p:cNvPr>
          <p:cNvSpPr/>
          <p:nvPr/>
        </p:nvSpPr>
        <p:spPr>
          <a:xfrm>
            <a:off x="635391" y="21206952"/>
            <a:ext cx="13839238" cy="956680"/>
          </a:xfrm>
          <a:prstGeom prst="rect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Research Questions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6A7EA1-A70E-9460-D2A6-C6793405EC8E}"/>
              </a:ext>
            </a:extLst>
          </p:cNvPr>
          <p:cNvSpPr/>
          <p:nvPr/>
        </p:nvSpPr>
        <p:spPr>
          <a:xfrm>
            <a:off x="618111" y="25880340"/>
            <a:ext cx="13856517" cy="750277"/>
          </a:xfrm>
          <a:prstGeom prst="rect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Data &amp; Data Quality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C7EEEC1-EA3A-A371-E7AD-617741B18FB8}"/>
              </a:ext>
            </a:extLst>
          </p:cNvPr>
          <p:cNvSpPr/>
          <p:nvPr/>
        </p:nvSpPr>
        <p:spPr>
          <a:xfrm>
            <a:off x="15248543" y="8220735"/>
            <a:ext cx="13479237" cy="1001977"/>
          </a:xfrm>
          <a:prstGeom prst="rect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Methodology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FEFC06-EC75-5BA8-5F63-C201F759AC6F}"/>
              </a:ext>
            </a:extLst>
          </p:cNvPr>
          <p:cNvSpPr/>
          <p:nvPr/>
        </p:nvSpPr>
        <p:spPr>
          <a:xfrm>
            <a:off x="29536237" y="3547394"/>
            <a:ext cx="13744124" cy="853043"/>
          </a:xfrm>
          <a:prstGeom prst="rect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Key Findings &amp; Visualizations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13C6D1A-0381-BFA8-C0FE-56A6741A18AB}"/>
              </a:ext>
            </a:extLst>
          </p:cNvPr>
          <p:cNvSpPr/>
          <p:nvPr/>
        </p:nvSpPr>
        <p:spPr>
          <a:xfrm>
            <a:off x="29867496" y="29597397"/>
            <a:ext cx="6921863" cy="750277"/>
          </a:xfrm>
          <a:prstGeom prst="rect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Strategic Insights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64CB30B-62C0-7736-C115-677A6D70FF6B}"/>
              </a:ext>
            </a:extLst>
          </p:cNvPr>
          <p:cNvSpPr/>
          <p:nvPr/>
        </p:nvSpPr>
        <p:spPr>
          <a:xfrm>
            <a:off x="15267049" y="10936651"/>
            <a:ext cx="13460729" cy="860731"/>
          </a:xfrm>
          <a:prstGeom prst="rect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Deployment &amp; Analytics Products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4D4B51-3C9B-2E08-3162-B5E22CC3C972}"/>
              </a:ext>
            </a:extLst>
          </p:cNvPr>
          <p:cNvSpPr/>
          <p:nvPr/>
        </p:nvSpPr>
        <p:spPr>
          <a:xfrm>
            <a:off x="15267050" y="3518407"/>
            <a:ext cx="13460730" cy="919525"/>
          </a:xfrm>
          <a:prstGeom prst="rect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System Architecture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A6E0F22-6D64-9130-C593-9FEEE2602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8543" y="12055925"/>
            <a:ext cx="13460730" cy="6134152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F190B43-85AB-F6DE-881E-3A98CCFE9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69346" y="25393725"/>
            <a:ext cx="7315200" cy="6396607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5612E919-3549-D400-4CCD-AD4824F9997E}"/>
              </a:ext>
            </a:extLst>
          </p:cNvPr>
          <p:cNvSpPr txBox="1"/>
          <p:nvPr/>
        </p:nvSpPr>
        <p:spPr>
          <a:xfrm>
            <a:off x="665871" y="22177405"/>
            <a:ext cx="1404338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Primary Research Question</a:t>
            </a:r>
            <a:endParaRPr lang="en-US" dirty="0"/>
          </a:p>
          <a:p>
            <a:r>
              <a:rPr lang="en-US" b="1" dirty="0"/>
              <a:t>RQ1:</a:t>
            </a:r>
            <a:r>
              <a:rPr lang="en-US" dirty="0"/>
              <a:t> How much better can an integrated career recommendation system, using Canadian Job Bank </a:t>
            </a:r>
            <a:r>
              <a:rPr lang="en-US" dirty="0" err="1"/>
              <a:t>labour</a:t>
            </a:r>
            <a:r>
              <a:rPr lang="en-US" dirty="0"/>
              <a:t>-demand data, O*NET occupational information, and CIP educational pathways, improve career and skill-gap recommendations compared to traditional keyword-based matching?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Secondary Research Questions</a:t>
            </a:r>
            <a:endParaRPr lang="en-US" dirty="0"/>
          </a:p>
          <a:p>
            <a:r>
              <a:rPr lang="en-US" b="1" dirty="0"/>
              <a:t>RQ2:</a:t>
            </a:r>
            <a:r>
              <a:rPr lang="en-US" dirty="0"/>
              <a:t> Which selected occupations have the most postings and vacancies in Canada?</a:t>
            </a:r>
          </a:p>
          <a:p>
            <a:r>
              <a:rPr lang="en-US" b="1" dirty="0"/>
              <a:t>RQ3:</a:t>
            </a:r>
            <a:r>
              <a:rPr lang="en-US" dirty="0"/>
              <a:t> How does the demand for selected occupations differ across provinces or territories?</a:t>
            </a:r>
          </a:p>
          <a:p>
            <a:r>
              <a:rPr lang="en-US" b="1" dirty="0"/>
              <a:t>RQ4:</a:t>
            </a:r>
            <a:r>
              <a:rPr lang="en-US" dirty="0"/>
              <a:t> Which O*NET knowledge areas, skills, and abilities are most important for selected positions?</a:t>
            </a:r>
          </a:p>
          <a:p>
            <a:r>
              <a:rPr lang="en-US" b="1" dirty="0"/>
              <a:t>RQ5:</a:t>
            </a:r>
            <a:r>
              <a:rPr lang="en-US" dirty="0"/>
              <a:t> What educational programs are associated with the selected occupations based on the CIP-SOC crosswalk?</a:t>
            </a:r>
          </a:p>
          <a:p>
            <a:r>
              <a:rPr lang="en-US" b="1" dirty="0"/>
              <a:t>RQ6:</a:t>
            </a:r>
            <a:r>
              <a:rPr lang="en-US" dirty="0"/>
              <a:t> How accurately can the system identify skills, education, experience, certifications and projects from the resumes of the selected applicants?</a:t>
            </a:r>
          </a:p>
          <a:p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F282607-861D-3D3F-2C9D-6FA3CB4C536B}"/>
              </a:ext>
            </a:extLst>
          </p:cNvPr>
          <p:cNvSpPr txBox="1"/>
          <p:nvPr/>
        </p:nvSpPr>
        <p:spPr>
          <a:xfrm>
            <a:off x="586154" y="7752250"/>
            <a:ext cx="6144003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This project develops an integrated career recommendation and skill-gap analysis system that connects candidate profiles with suitable occupations using NLP, semantic matching, occupational skill requirements, Canadian </a:t>
            </a:r>
            <a:r>
              <a:rPr lang="en-US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labour</a:t>
            </a: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-market demand and educational pathways.</a:t>
            </a:r>
            <a:endParaRPr lang="en-CA" sz="2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0EB24E56-5BF0-7BF2-81C0-D7C70EE209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71" y="462337"/>
            <a:ext cx="4515729" cy="2489021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437DE2B4-BAAD-B4BF-71E3-D49B68E03CC0}"/>
              </a:ext>
            </a:extLst>
          </p:cNvPr>
          <p:cNvSpPr/>
          <p:nvPr/>
        </p:nvSpPr>
        <p:spPr>
          <a:xfrm>
            <a:off x="586155" y="6829618"/>
            <a:ext cx="14043388" cy="750277"/>
          </a:xfrm>
          <a:prstGeom prst="rect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Project Overview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75BC958-EA73-CE9D-CCCF-91A91BC5A510}"/>
              </a:ext>
            </a:extLst>
          </p:cNvPr>
          <p:cNvSpPr txBox="1"/>
          <p:nvPr/>
        </p:nvSpPr>
        <p:spPr>
          <a:xfrm>
            <a:off x="687142" y="5202931"/>
            <a:ext cx="1262073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Group Members:</a:t>
            </a:r>
            <a:endParaRPr lang="en-US" sz="2800" dirty="0"/>
          </a:p>
          <a:p>
            <a:r>
              <a:rPr lang="en-US" sz="2800" dirty="0"/>
              <a:t>Alveera Malik, Arya Unni, Ansu Joy, </a:t>
            </a:r>
          </a:p>
          <a:p>
            <a:r>
              <a:rPr lang="en-US" sz="2800" dirty="0"/>
              <a:t>Jasmine Jose and Souren Chowdhury</a:t>
            </a:r>
          </a:p>
          <a:p>
            <a:endParaRPr lang="en-US" sz="2800" dirty="0"/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11B40C94-90D8-CB2C-0BC4-77F3874265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32573" y="4701006"/>
            <a:ext cx="9208558" cy="3314012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F813E5FD-F390-BDCC-E727-8173156A0A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24822" y="4729292"/>
            <a:ext cx="13432638" cy="5236141"/>
          </a:xfrm>
          <a:prstGeom prst="rect">
            <a:avLst/>
          </a:prstGeom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51937E0D-1C30-225C-57EF-8E760FA1C9FB}"/>
              </a:ext>
            </a:extLst>
          </p:cNvPr>
          <p:cNvSpPr/>
          <p:nvPr/>
        </p:nvSpPr>
        <p:spPr>
          <a:xfrm>
            <a:off x="29525299" y="15938933"/>
            <a:ext cx="13744124" cy="746330"/>
          </a:xfrm>
          <a:prstGeom prst="rect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User Interface</a:t>
            </a:r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ABE94657-3C16-1E3E-2069-6475F974C8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525298" y="17891310"/>
            <a:ext cx="13779747" cy="3831587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188C8B85-A675-167B-1694-62422DDDB7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556440" y="22778424"/>
            <a:ext cx="3871089" cy="3831588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4C211B19-E083-65B0-A0F6-B03149897E28}"/>
              </a:ext>
            </a:extLst>
          </p:cNvPr>
          <p:cNvSpPr txBox="1"/>
          <p:nvPr/>
        </p:nvSpPr>
        <p:spPr>
          <a:xfrm>
            <a:off x="29446185" y="13100766"/>
            <a:ext cx="1312861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Strong alignment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- Most candidates show very high skill and semantic match (often 100%), meaning their resumes closely fit the occupations recommended by the model.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Software Developer dominates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- Over half of all candidates receive “Software Developer” as their top recommendation, showing strong transferable digital skills across the group.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Labour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demand varies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- Even when skill match is high,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labour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‑market demand scores differ widely, meaning some jobs are a great personal fit but not always in high demand.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Top‑5 recommendations diversify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- When looking beyond the top‑1 result, candidates match with a broader set of occupations like IT Analyst, Bookkeeper, Office Administrator, and Teacher.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3ED5B93-E152-A933-4E91-1994AAC54D6F}"/>
              </a:ext>
            </a:extLst>
          </p:cNvPr>
          <p:cNvSpPr txBox="1"/>
          <p:nvPr/>
        </p:nvSpPr>
        <p:spPr>
          <a:xfrm>
            <a:off x="29867497" y="30527795"/>
            <a:ext cx="73152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Candidates</a:t>
            </a:r>
            <a:endParaRPr lang="en-US" dirty="0"/>
          </a:p>
          <a:p>
            <a:r>
              <a:rPr lang="en-US" dirty="0"/>
              <a:t>Prioritize high‑importance missing skills to improve career readiness.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Universities</a:t>
            </a:r>
            <a:endParaRPr lang="en-US" dirty="0"/>
          </a:p>
          <a:p>
            <a:r>
              <a:rPr lang="en-US" dirty="0"/>
              <a:t>Align academic programs with occupational skill requirements.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Employers</a:t>
            </a:r>
            <a:endParaRPr lang="en-US" dirty="0"/>
          </a:p>
          <a:p>
            <a:r>
              <a:rPr lang="en-US" dirty="0"/>
              <a:t>Use skill‑gap evidence to identify workforce development needs.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Career Services</a:t>
            </a:r>
            <a:endParaRPr lang="en-US" dirty="0"/>
          </a:p>
          <a:p>
            <a:r>
              <a:rPr lang="en-US" dirty="0"/>
              <a:t>Provide personalized occupation and skill‑development pathways.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A4D09DE6-0250-1DE8-57FC-3A14639AA4F7}"/>
              </a:ext>
            </a:extLst>
          </p:cNvPr>
          <p:cNvSpPr/>
          <p:nvPr/>
        </p:nvSpPr>
        <p:spPr>
          <a:xfrm>
            <a:off x="29928083" y="26829513"/>
            <a:ext cx="6861275" cy="750277"/>
          </a:xfrm>
          <a:prstGeom prst="rect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Limitations</a:t>
            </a:r>
          </a:p>
        </p:txBody>
      </p:sp>
      <p:graphicFrame>
        <p:nvGraphicFramePr>
          <p:cNvPr id="85" name="Table 84">
            <a:extLst>
              <a:ext uri="{FF2B5EF4-FFF2-40B4-BE49-F238E27FC236}">
                <a16:creationId xmlns:a16="http://schemas.microsoft.com/office/drawing/2014/main" id="{8D4FB799-4233-9DD2-5816-6CEA43F019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9464487"/>
              </p:ext>
            </p:extLst>
          </p:nvPr>
        </p:nvGraphicFramePr>
        <p:xfrm>
          <a:off x="22503574" y="29424150"/>
          <a:ext cx="6302155" cy="283121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74288">
                  <a:extLst>
                    <a:ext uri="{9D8B030D-6E8A-4147-A177-3AD203B41FA5}">
                      <a16:colId xmlns:a16="http://schemas.microsoft.com/office/drawing/2014/main" val="2498894025"/>
                    </a:ext>
                  </a:extLst>
                </a:gridCol>
                <a:gridCol w="3527867">
                  <a:extLst>
                    <a:ext uri="{9D8B030D-6E8A-4147-A177-3AD203B41FA5}">
                      <a16:colId xmlns:a16="http://schemas.microsoft.com/office/drawing/2014/main" val="3036938141"/>
                    </a:ext>
                  </a:extLst>
                </a:gridCol>
              </a:tblGrid>
              <a:tr h="1511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Evidence Component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Example Output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01133254"/>
                  </a:ext>
                </a:extLst>
              </a:tr>
              <a:tr h="151130"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Candidate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Candidate_001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96174006"/>
                  </a:ext>
                </a:extLst>
              </a:tr>
              <a:tr h="151130"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Recommended occupation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Software Developer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94767429"/>
                  </a:ext>
                </a:extLst>
              </a:tr>
              <a:tr h="151130"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Hybrid score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84.58%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98668175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Priority skill gaps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Active Listening, Monitoring, Speaking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56462908"/>
                  </a:ext>
                </a:extLst>
              </a:tr>
              <a:tr h="151130"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O*NET evidence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RAG document IDs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67106342"/>
                  </a:ext>
                </a:extLst>
              </a:tr>
              <a:tr h="151130"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Task evidence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Occupational task documents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65482449"/>
                  </a:ext>
                </a:extLst>
              </a:tr>
              <a:tr h="151130"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Labour-market evidence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Canadian demand document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32376070"/>
                  </a:ext>
                </a:extLst>
              </a:tr>
              <a:tr h="151130"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Education evidence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CIP pathway document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86117549"/>
                  </a:ext>
                </a:extLst>
              </a:tr>
            </a:tbl>
          </a:graphicData>
        </a:graphic>
      </p:graphicFrame>
      <p:sp>
        <p:nvSpPr>
          <p:cNvPr id="87" name="Rectangle 86">
            <a:extLst>
              <a:ext uri="{FF2B5EF4-FFF2-40B4-BE49-F238E27FC236}">
                <a16:creationId xmlns:a16="http://schemas.microsoft.com/office/drawing/2014/main" id="{9E5EECBC-E3F6-AC94-0D3B-B0FE7D792E10}"/>
              </a:ext>
            </a:extLst>
          </p:cNvPr>
          <p:cNvSpPr/>
          <p:nvPr/>
        </p:nvSpPr>
        <p:spPr>
          <a:xfrm>
            <a:off x="22503574" y="28174353"/>
            <a:ext cx="6302155" cy="1042760"/>
          </a:xfrm>
          <a:prstGeom prst="rect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Example Candidate RAG Evidence Package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30545A5-24BE-4582-DA52-66CADD112D8E}"/>
              </a:ext>
            </a:extLst>
          </p:cNvPr>
          <p:cNvSpPr txBox="1"/>
          <p:nvPr/>
        </p:nvSpPr>
        <p:spPr>
          <a:xfrm>
            <a:off x="29867497" y="27662950"/>
            <a:ext cx="65588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dirty="0"/>
              <a:t>Resume/skill extraction errors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dirty="0"/>
              <a:t>NOC–SOC–O*NET mapping limitations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dirty="0" err="1"/>
              <a:t>Labour</a:t>
            </a:r>
            <a:r>
              <a:rPr lang="en-US" dirty="0"/>
              <a:t>‑market demand changes over time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dirty="0"/>
              <a:t>Relatively small candidate dataset (63 candidates)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dirty="0"/>
              <a:t>Limited labelled data for supervised Machine Learning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dirty="0"/>
              <a:t>Semantic‑model limitations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C70F1745-280D-D81F-5B76-6DFA6B656B3A}"/>
              </a:ext>
            </a:extLst>
          </p:cNvPr>
          <p:cNvSpPr/>
          <p:nvPr/>
        </p:nvSpPr>
        <p:spPr>
          <a:xfrm>
            <a:off x="37263374" y="26822793"/>
            <a:ext cx="6286076" cy="750277"/>
          </a:xfrm>
          <a:prstGeom prst="rect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Future Research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EE4B04B-5FD3-729C-C8D5-A8D0BC420996}"/>
              </a:ext>
            </a:extLst>
          </p:cNvPr>
          <p:cNvSpPr txBox="1"/>
          <p:nvPr/>
        </p:nvSpPr>
        <p:spPr>
          <a:xfrm>
            <a:off x="37263374" y="27742427"/>
            <a:ext cx="628607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dirty="0"/>
              <a:t>Expand the candidate dataset to improve generalizability.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dirty="0"/>
              <a:t>Introduce larger labelled outcome datasets to support supervised learning and outcome-based validation.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dirty="0"/>
              <a:t>Improve semantic recommendation models to strengthen contextual matching.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dirty="0"/>
              <a:t>Integrate real‑time </a:t>
            </a:r>
            <a:r>
              <a:rPr lang="en-US" dirty="0" err="1"/>
              <a:t>labour</a:t>
            </a:r>
            <a:r>
              <a:rPr lang="en-US" dirty="0"/>
              <a:t>‑market APIs for continuously updated demand information.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dirty="0"/>
              <a:t>Enhance and scale the deployed </a:t>
            </a:r>
            <a:r>
              <a:rPr lang="en-US" dirty="0" err="1"/>
              <a:t>Streamlit</a:t>
            </a:r>
            <a:r>
              <a:rPr lang="en-US" dirty="0"/>
              <a:t> application for broader practical use.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B8676DE6-3466-0AA7-033D-EFCBDDD187E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3417" y="26766020"/>
            <a:ext cx="12864925" cy="5742981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49BF3B17-5E64-F24E-21B5-911EB1267F2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536239" y="23070595"/>
            <a:ext cx="9736070" cy="3542164"/>
          </a:xfrm>
          <a:prstGeom prst="rect">
            <a:avLst/>
          </a:prstGeom>
        </p:spPr>
      </p:pic>
      <p:sp>
        <p:nvSpPr>
          <p:cNvPr id="99" name="Rectangle 98">
            <a:extLst>
              <a:ext uri="{FF2B5EF4-FFF2-40B4-BE49-F238E27FC236}">
                <a16:creationId xmlns:a16="http://schemas.microsoft.com/office/drawing/2014/main" id="{8B1F30C0-F958-FBDA-9A03-93694E75B8A3}"/>
              </a:ext>
            </a:extLst>
          </p:cNvPr>
          <p:cNvSpPr/>
          <p:nvPr/>
        </p:nvSpPr>
        <p:spPr>
          <a:xfrm>
            <a:off x="29553525" y="16867699"/>
            <a:ext cx="4136089" cy="750277"/>
          </a:xfrm>
          <a:prstGeom prst="rect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Home Page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1BA8BC0-3F66-DB61-4906-CBEB92D1A3A2}"/>
              </a:ext>
            </a:extLst>
          </p:cNvPr>
          <p:cNvSpPr/>
          <p:nvPr/>
        </p:nvSpPr>
        <p:spPr>
          <a:xfrm>
            <a:off x="29455960" y="22055479"/>
            <a:ext cx="9816349" cy="750277"/>
          </a:xfrm>
          <a:prstGeom prst="rect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Live Result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E5EDFA7C-575C-DA44-3533-38282718C796}"/>
              </a:ext>
            </a:extLst>
          </p:cNvPr>
          <p:cNvSpPr/>
          <p:nvPr/>
        </p:nvSpPr>
        <p:spPr>
          <a:xfrm>
            <a:off x="39854354" y="22031473"/>
            <a:ext cx="3370975" cy="750277"/>
          </a:xfrm>
          <a:prstGeom prst="rect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Scan Me</a:t>
            </a:r>
          </a:p>
        </p:txBody>
      </p:sp>
      <p:pic>
        <p:nvPicPr>
          <p:cNvPr id="107" name="Picture 106">
            <a:extLst>
              <a:ext uri="{FF2B5EF4-FFF2-40B4-BE49-F238E27FC236}">
                <a16:creationId xmlns:a16="http://schemas.microsoft.com/office/drawing/2014/main" id="{AB0DD323-48A1-CA3F-EDAE-B49405E15C2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737386" y="9358583"/>
            <a:ext cx="4065042" cy="1242720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9D1B40AF-CE58-1965-71A5-007AA4A7749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985526" y="9314152"/>
            <a:ext cx="4065042" cy="1253655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D059F387-EA0E-A1C8-AABC-D8DA84E1EE0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106349" y="9396466"/>
            <a:ext cx="3317611" cy="1128750"/>
          </a:xfrm>
          <a:prstGeom prst="rect">
            <a:avLst/>
          </a:prstGeom>
        </p:spPr>
      </p:pic>
      <p:sp>
        <p:nvSpPr>
          <p:cNvPr id="112" name="Rectangle 111">
            <a:extLst>
              <a:ext uri="{FF2B5EF4-FFF2-40B4-BE49-F238E27FC236}">
                <a16:creationId xmlns:a16="http://schemas.microsoft.com/office/drawing/2014/main" id="{D5E297AF-7CEE-5EE4-99E3-B5C259DE4106}"/>
              </a:ext>
            </a:extLst>
          </p:cNvPr>
          <p:cNvSpPr/>
          <p:nvPr/>
        </p:nvSpPr>
        <p:spPr>
          <a:xfrm>
            <a:off x="22503574" y="25346078"/>
            <a:ext cx="6302155" cy="876584"/>
          </a:xfrm>
          <a:prstGeom prst="rect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RAG Architecture</a:t>
            </a:r>
          </a:p>
        </p:txBody>
      </p:sp>
      <p:pic>
        <p:nvPicPr>
          <p:cNvPr id="114" name="Picture 113">
            <a:extLst>
              <a:ext uri="{FF2B5EF4-FFF2-40B4-BE49-F238E27FC236}">
                <a16:creationId xmlns:a16="http://schemas.microsoft.com/office/drawing/2014/main" id="{5F8033F5-1FA9-EBDE-0D1A-3E8877D6A71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611622" y="26399219"/>
            <a:ext cx="5587674" cy="1512060"/>
          </a:xfrm>
          <a:prstGeom prst="rect">
            <a:avLst/>
          </a:prstGeom>
        </p:spPr>
      </p:pic>
      <p:pic>
        <p:nvPicPr>
          <p:cNvPr id="116" name="Picture 115">
            <a:extLst>
              <a:ext uri="{FF2B5EF4-FFF2-40B4-BE49-F238E27FC236}">
                <a16:creationId xmlns:a16="http://schemas.microsoft.com/office/drawing/2014/main" id="{6147C4F8-1994-F1F8-E002-398BC48C7A3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724822" y="10153712"/>
            <a:ext cx="3317610" cy="2616541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EC67E15E-9AF8-248A-2D1C-44EFA42B64F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3887656" y="10203515"/>
            <a:ext cx="4780246" cy="2693008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169607B2-225D-B50E-32A7-5A8516584BE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513126" y="10216658"/>
            <a:ext cx="3526495" cy="2022960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F9A73617-33BF-0185-B18C-99E60763CE0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539272" y="30702975"/>
            <a:ext cx="3863675" cy="14631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5EA7112-87CE-1132-3B39-EA463F24936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86154" y="12117309"/>
            <a:ext cx="5565700" cy="40540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6C263C-A696-98D3-C89D-978A4079065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86154" y="16733316"/>
            <a:ext cx="7639024" cy="41021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2F9FC97-EAD3-70F0-E528-09EB9A77E2E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12106" y="12154328"/>
            <a:ext cx="8217621" cy="394846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A3B83B3-715A-8533-91CE-D10420B481FA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745415" y="17004622"/>
            <a:ext cx="5729214" cy="384457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1020AF2-D7BA-838F-DFC9-97FC559A554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912051" y="7648889"/>
            <a:ext cx="7717492" cy="33140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2B1A29E-F6CB-FF91-9017-E84C5B0ED79D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5267049" y="18631340"/>
            <a:ext cx="13442224" cy="6504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502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1151</TotalTime>
  <Words>590</Words>
  <Application>Microsoft Office PowerPoint</Application>
  <PresentationFormat>Custom</PresentationFormat>
  <Paragraphs>76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Segoe UI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Souren Chowdhury</dc:creator>
  <cp:lastModifiedBy>Souren Chowdhury</cp:lastModifiedBy>
  <cp:revision>40</cp:revision>
  <cp:lastPrinted>2026-09-09T02:26:03Z</cp:lastPrinted>
  <dcterms:created xsi:type="dcterms:W3CDTF">2026-09-08T17:01:11Z</dcterms:created>
  <dcterms:modified xsi:type="dcterms:W3CDTF">2026-09-10T02:59:15Z</dcterms:modified>
</cp:coreProperties>
</file>